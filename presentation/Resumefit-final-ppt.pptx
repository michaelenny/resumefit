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0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97D814-955B-997B-53C7-D4D569341968}" v="53" dt="2026-07-26T13:13:19.7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A5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9A3E"/>
                </a:solidFill>
                <a:latin typeface="Calibri"/>
              </a:rPr>
              <a:t>MSAI631-M92 · ARTIFICIAL INTELLIGENCE FOR HUMAN-COMPUTER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 i="0">
                <a:solidFill>
                  <a:srgbClr val="1A5276"/>
                </a:solidFill>
                <a:latin typeface="Calibri"/>
              </a:rPr>
              <a:t>ResumeFit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1A1A1A"/>
                </a:solidFill>
                <a:latin typeface="Calibri"/>
              </a:rPr>
              <a:t>A Conversational, ATS-Safe Resume Rewriter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343400"/>
            <a:ext cx="1188720" cy="508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D99A3E"/>
                </a:solidFill>
                <a:latin typeface="Calibri"/>
              </a:rPr>
              <a:t>Residency Group Project ·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194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Kenneth Ohene Abrefa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6694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Jyothsna Aitipamula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1441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Suraj Raymond D'Souza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491947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Michael Eniolade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5266944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Sailesh Krishna Kodeboyena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5614416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Calibri"/>
              </a:rPr>
              <a:t>Naief Abdullah Shakil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Most Resumes Aren't ATS-Safe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Inconsistent formatting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Tables, columns, and graphics that automated parsers can't 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5351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803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Vague, unquantified bullets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5584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“Responsible for sales” instead of a measurable result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0507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No idea what “ATS-safe” 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0740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Most job seekers have never seen the parser's side of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056632"/>
            <a:ext cx="82296" cy="73152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Fixing it manually is tedious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58968"/>
            <a:ext cx="106070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And easy to get wrong without knowing the actual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One Conversation, Two AI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82296" cy="108204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1. Paste or upload a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1060704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Plain text, PDF, or DOCX — whatever you already have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04032"/>
            <a:ext cx="82296" cy="108204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088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2. Answer a few targeted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06368"/>
            <a:ext cx="1060704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Only about what your resume is actually missing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6112"/>
            <a:ext cx="82296" cy="108204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63296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3. Get an ATS-safe rewrite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8448"/>
            <a:ext cx="10607040" cy="853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Single column, standard headers, nothing invented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High-Level Design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ResumeFit high-level design 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4267200" cy="42672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4948640" y="2227432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8096" y="2200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Job seeker uploads a resume draft to start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948640" y="3027432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168096" y="3000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Traditional layer: local Python, zero API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948640" y="3827432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8096" y="3800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AI-as-a-service layer: two distinct OpenAI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48640" y="4627432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68096" y="46000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Output layer: TXT, DOCX, and PDF export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36187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Five Stages, Two Processing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1-streamlit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21457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03122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Intake → Analyzing → Quiz → Rewriting →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58717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455973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Traditional layer: local Python, zero API calls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36720" y="458717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6176" y="455973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AI-as-a-service layer: two distinct OpenAI calls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24800" y="458717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44256" y="455973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Every stage degrades gracefully, never a dead 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LAYER 1 · TRADITIONAL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Rule-Based Gap Detection, Entirely Local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2-traditional-nlp-lay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21405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Missing or inconsistent dates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617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Vague job titles (“Team Member”)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425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Bullets with no quantified result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LAYER 2 · AI-AS-A-SERVICE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Content-Specific Questions via OpenAI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-ai-question-gene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920240"/>
            <a:ext cx="10058400" cy="214052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Reads what THIS resume actually says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617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Never repeats the rule-based questions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4197927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4256" y="4170495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Falls back to rule-based-only if the API fails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INTERACTION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Back, Skip, and Inline Editing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3-quiz-navig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691640"/>
            <a:ext cx="7863840" cy="41776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06465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Real running app — mid-quiz, question 2 of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LAYER 2 · AI-AS-A-SERVICE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The Rewrite: Structured Prompt, One Retry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-ai-ats-re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145" y="1920240"/>
            <a:ext cx="7329404" cy="21945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48640" y="425196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8096" y="422452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Single column, standard section headers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6720" y="425196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56176" y="422452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Never invents employers, titles, or dates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4800" y="4251960"/>
            <a:ext cx="128016" cy="128016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44256" y="4224528"/>
            <a:ext cx="3413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1A1A1A"/>
                </a:solidFill>
                <a:latin typeface="Calibri"/>
              </a:rPr>
              <a:t>One automatic retry before falling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See Exactly What 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5-diff-view-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788" y="1691640"/>
            <a:ext cx="8606117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Word-level diff — removed in red, added in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THE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TXT, DOCX, and a LaTeX-Typeset PDF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06-export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33" y="1737360"/>
            <a:ext cx="7917628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0807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1">
                <a:solidFill>
                  <a:srgbClr val="5A6472"/>
                </a:solidFill>
                <a:latin typeface="Calibri"/>
              </a:rPr>
              <a:t>PDF compiled locally via pdflatex — single-column, ATS-safe by 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D99A3E"/>
                </a:solidFill>
                <a:latin typeface="Calibri"/>
              </a:rPr>
              <a:t>ACCESSIBILITY &amp; ETHICS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0789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1A5276"/>
                </a:solidFill>
                <a:latin typeface="Calibri"/>
              </a:rPr>
              <a:t>Two Sides of the Same Design Choice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90195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ATS-safe = screen-reader-safe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0428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One constraint satisfies both requirements at once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90195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Never invents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30428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Skipped answers stay unresolved, not guessed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0507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Fallback is always labeled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40740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A cached response never silently poses as live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400507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3931920"/>
            <a:ext cx="5074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A5276"/>
                </a:solidFill>
                <a:latin typeface="Calibri"/>
              </a:rPr>
              <a:t>Nothing persists beyond the session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407408"/>
            <a:ext cx="507492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No database, no external storage of resume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F8FD68-8721-93AA-CADF-1160DD204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D651A0-BA72-56B7-C725-07CEE1589CBB}"/>
              </a:ext>
            </a:extLst>
          </p:cNvPr>
          <p:cNvSpPr txBox="1"/>
          <p:nvPr/>
        </p:nvSpPr>
        <p:spPr>
          <a:xfrm>
            <a:off x="548640" y="320040"/>
            <a:ext cx="105156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b="1" dirty="0">
                <a:solidFill>
                  <a:srgbClr val="D99A3E"/>
                </a:solidFill>
              </a:rPr>
              <a:t>FUTURE ENHANCEMENTS</a:t>
            </a:r>
            <a:endParaRPr sz="1300" b="1" i="0" dirty="0">
              <a:solidFill>
                <a:srgbClr val="D99A3E"/>
              </a:solidFill>
              <a:latin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4969F2-4E53-7712-0E3A-D5FB1BCB832D}"/>
              </a:ext>
            </a:extLst>
          </p:cNvPr>
          <p:cNvSpPr txBox="1"/>
          <p:nvPr/>
        </p:nvSpPr>
        <p:spPr>
          <a:xfrm>
            <a:off x="548640" y="594360"/>
            <a:ext cx="107899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200" b="1" dirty="0">
                <a:solidFill>
                  <a:srgbClr val="1A5276"/>
                </a:solidFill>
              </a:rPr>
              <a:t>Taking ResumeFit to the Next Level</a:t>
            </a:r>
            <a:endParaRPr sz="3200" b="1" i="0" dirty="0">
              <a:solidFill>
                <a:srgbClr val="1A5276"/>
              </a:solidFill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22F6D-4B1E-0EA4-54A5-F17BDC63B227}"/>
              </a:ext>
            </a:extLst>
          </p:cNvPr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F535A-C80F-608A-9A38-FE22D4E9BB63}"/>
              </a:ext>
            </a:extLst>
          </p:cNvPr>
          <p:cNvSpPr/>
          <p:nvPr/>
        </p:nvSpPr>
        <p:spPr>
          <a:xfrm>
            <a:off x="548640" y="190195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AC1652-26F8-CC6A-C29A-C50FA45F6BA8}"/>
              </a:ext>
            </a:extLst>
          </p:cNvPr>
          <p:cNvSpPr txBox="1"/>
          <p:nvPr/>
        </p:nvSpPr>
        <p:spPr>
          <a:xfrm>
            <a:off x="822960" y="1828800"/>
            <a:ext cx="50749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200" b="1" dirty="0">
                <a:solidFill>
                  <a:srgbClr val="1A5276"/>
                </a:solidFill>
              </a:rPr>
              <a:t>Target Job Description Matching</a:t>
            </a:r>
            <a:endParaRPr sz="2200" b="1" i="0" dirty="0">
              <a:solidFill>
                <a:srgbClr val="1A5276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B469A-57CB-235E-7EA1-E2B0C635B420}"/>
              </a:ext>
            </a:extLst>
          </p:cNvPr>
          <p:cNvSpPr txBox="1"/>
          <p:nvPr/>
        </p:nvSpPr>
        <p:spPr>
          <a:xfrm>
            <a:off x="822960" y="2304288"/>
            <a:ext cx="507492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b="0" i="0" dirty="0">
                <a:solidFill>
                  <a:srgbClr val="5A6472"/>
                </a:solidFill>
                <a:latin typeface="Calibri"/>
              </a:rPr>
              <a:t>Identify keyword gaps against specific job postings</a:t>
            </a:r>
            <a:endParaRPr sz="160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4EF593-321E-FCDE-D191-6B276CC5EC03}"/>
              </a:ext>
            </a:extLst>
          </p:cNvPr>
          <p:cNvSpPr/>
          <p:nvPr/>
        </p:nvSpPr>
        <p:spPr>
          <a:xfrm>
            <a:off x="6080760" y="190195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7E8AA2-C6B7-4B69-BADC-DF7909243927}"/>
              </a:ext>
            </a:extLst>
          </p:cNvPr>
          <p:cNvSpPr txBox="1"/>
          <p:nvPr/>
        </p:nvSpPr>
        <p:spPr>
          <a:xfrm>
            <a:off x="6355080" y="1828800"/>
            <a:ext cx="50749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200" b="1" dirty="0">
                <a:solidFill>
                  <a:srgbClr val="1A5276"/>
                </a:solidFill>
              </a:rPr>
              <a:t>Local PII Stripping</a:t>
            </a:r>
            <a:endParaRPr sz="2200" b="1" i="0" dirty="0">
              <a:solidFill>
                <a:srgbClr val="1A5276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274F61-85C0-D7EF-1E86-E6E797D4CCCF}"/>
              </a:ext>
            </a:extLst>
          </p:cNvPr>
          <p:cNvSpPr txBox="1"/>
          <p:nvPr/>
        </p:nvSpPr>
        <p:spPr>
          <a:xfrm>
            <a:off x="6355080" y="2304288"/>
            <a:ext cx="5074920" cy="798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en-US" sz="1600" dirty="0">
                <a:solidFill>
                  <a:srgbClr val="5A6472"/>
                </a:solidFill>
                <a:latin typeface="Calibri"/>
              </a:rPr>
              <a:t>Sanitize before Cloud AI prompt</a:t>
            </a:r>
          </a:p>
          <a:p>
            <a:pPr algn="l">
              <a:lnSpc>
                <a:spcPct val="110000"/>
              </a:lnSpc>
            </a:pPr>
            <a:endParaRPr lang="en-US" sz="1600" b="0" i="0" dirty="0">
              <a:solidFill>
                <a:srgbClr val="5A6472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lang="en-US" sz="1600" dirty="0">
                <a:solidFill>
                  <a:srgbClr val="5A6472"/>
                </a:solidFill>
                <a:latin typeface="Calibri"/>
              </a:rPr>
              <a:t>Re-inject it before final resume generation</a:t>
            </a:r>
            <a:endParaRPr sz="160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91215-99F5-3575-E562-0D6D9C53F9C1}"/>
              </a:ext>
            </a:extLst>
          </p:cNvPr>
          <p:cNvSpPr/>
          <p:nvPr/>
        </p:nvSpPr>
        <p:spPr>
          <a:xfrm>
            <a:off x="548640" y="400507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9D120-9671-0A7E-9D52-496632BE1B05}"/>
              </a:ext>
            </a:extLst>
          </p:cNvPr>
          <p:cNvSpPr txBox="1"/>
          <p:nvPr/>
        </p:nvSpPr>
        <p:spPr>
          <a:xfrm>
            <a:off x="822960" y="3931920"/>
            <a:ext cx="50749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200" b="1" dirty="0">
                <a:solidFill>
                  <a:srgbClr val="1A5276"/>
                </a:solidFill>
              </a:rPr>
              <a:t>A/B Phrasing Selection</a:t>
            </a:r>
            <a:endParaRPr sz="2200" b="1" i="0" dirty="0">
              <a:solidFill>
                <a:srgbClr val="1A5276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0C0E5A-4D39-2726-4D7F-659D18B4E576}"/>
              </a:ext>
            </a:extLst>
          </p:cNvPr>
          <p:cNvSpPr txBox="1"/>
          <p:nvPr/>
        </p:nvSpPr>
        <p:spPr>
          <a:xfrm>
            <a:off x="822960" y="4407408"/>
            <a:ext cx="507492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5A6472"/>
                </a:solidFill>
              </a:rPr>
              <a:t>Metric-led vs. action-led generated resume</a:t>
            </a:r>
            <a:endParaRPr sz="1600" b="0" i="0" dirty="0">
              <a:solidFill>
                <a:srgbClr val="5A6472"/>
              </a:solidFill>
              <a:latin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A72329-8576-94C8-90BD-C11FDCD86A64}"/>
              </a:ext>
            </a:extLst>
          </p:cNvPr>
          <p:cNvSpPr/>
          <p:nvPr/>
        </p:nvSpPr>
        <p:spPr>
          <a:xfrm>
            <a:off x="6080760" y="4005072"/>
            <a:ext cx="82296" cy="178308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4AB8A-D634-A33B-8EEC-1FE6E67A37FF}"/>
              </a:ext>
            </a:extLst>
          </p:cNvPr>
          <p:cNvSpPr txBox="1"/>
          <p:nvPr/>
        </p:nvSpPr>
        <p:spPr>
          <a:xfrm>
            <a:off x="6355080" y="3931920"/>
            <a:ext cx="5074920" cy="3385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200" b="1" dirty="0">
                <a:solidFill>
                  <a:srgbClr val="1A5276"/>
                </a:solidFill>
              </a:rPr>
              <a:t>Cover Letter Generation</a:t>
            </a:r>
            <a:endParaRPr sz="2200" b="1" i="0" dirty="0">
              <a:solidFill>
                <a:srgbClr val="1A5276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5A0106-A016-19D1-7667-5A172431443B}"/>
              </a:ext>
            </a:extLst>
          </p:cNvPr>
          <p:cNvSpPr txBox="1"/>
          <p:nvPr/>
        </p:nvSpPr>
        <p:spPr>
          <a:xfrm>
            <a:off x="6355080" y="4407408"/>
            <a:ext cx="5074920" cy="2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600" dirty="0">
                <a:solidFill>
                  <a:srgbClr val="5A6472"/>
                </a:solidFill>
              </a:rPr>
              <a:t>Leverage gathered data to generate a matching cover letter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1AB1E0-2813-8078-6C97-18660BC48F0E}"/>
              </a:ext>
            </a:extLst>
          </p:cNvPr>
          <p:cNvSpPr txBox="1"/>
          <p:nvPr/>
        </p:nvSpPr>
        <p:spPr>
          <a:xfrm>
            <a:off x="457200" y="6473952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 dirty="0">
                <a:solidFill>
                  <a:srgbClr val="5A6472"/>
                </a:solidFill>
                <a:latin typeface="Calibri"/>
              </a:rPr>
              <a:t>ResumeFit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05D099-6146-A9EF-8A3C-DE6B5B867E80}"/>
              </a:ext>
            </a:extLst>
          </p:cNvPr>
          <p:cNvSpPr txBox="1"/>
          <p:nvPr/>
        </p:nvSpPr>
        <p:spPr>
          <a:xfrm>
            <a:off x="10972800" y="6473952"/>
            <a:ext cx="822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21856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27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9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 i="0">
                <a:solidFill>
                  <a:srgbClr val="D99A3E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CFD8E3"/>
                </a:solidFill>
                <a:latin typeface="Calibri"/>
              </a:rPr>
              <a:t>github.com/MichaelEnny/ResumeFit  ·  MSAI631-M92 Residency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528</Words>
  <Application>Microsoft Office PowerPoint</Application>
  <PresentationFormat>Widescreen</PresentationFormat>
  <Paragraphs>113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Eniolade</cp:lastModifiedBy>
  <cp:revision>20</cp:revision>
  <dcterms:created xsi:type="dcterms:W3CDTF">2013-01-27T09:14:16Z</dcterms:created>
  <dcterms:modified xsi:type="dcterms:W3CDTF">2026-07-26T13:20:01Z</dcterms:modified>
  <cp:category/>
</cp:coreProperties>
</file>